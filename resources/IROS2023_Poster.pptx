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42803763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rick Wensing" initials="PMW" lastIdx="3" clrIdx="0">
    <p:extLst>
      <p:ext uri="{19B8F6BF-5375-455C-9EA6-DF929625EA0E}">
        <p15:presenceInfo xmlns:p15="http://schemas.microsoft.com/office/powerpoint/2012/main" userId="Patrick Wensi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3EE"/>
    <a:srgbClr val="289989"/>
    <a:srgbClr val="1A4343"/>
    <a:srgbClr val="182428"/>
    <a:srgbClr val="0B2340"/>
    <a:srgbClr val="E6D67B"/>
    <a:srgbClr val="E5E2E5"/>
    <a:srgbClr val="E8E5E6"/>
    <a:srgbClr val="E3E0E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A0D7BA-7FE4-9741-913A-1ABF82A5F339}" v="279" dt="2023-09-28T04:15:01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012"/>
    <p:restoredTop sz="94601"/>
  </p:normalViewPr>
  <p:slideViewPr>
    <p:cSldViewPr snapToGrid="0">
      <p:cViewPr>
        <p:scale>
          <a:sx n="73" d="100"/>
          <a:sy n="73" d="100"/>
        </p:scale>
        <p:origin x="144" y="-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rese Joseph" userId="0ad703bc-4450-47fb-a693-46ca1b9f2316" providerId="ADAL" clId="{5DA0D7BA-7FE4-9741-913A-1ABF82A5F339}"/>
    <pc:docChg chg="modSld">
      <pc:chgData name="Therese Joseph" userId="0ad703bc-4450-47fb-a693-46ca1b9f2316" providerId="ADAL" clId="{5DA0D7BA-7FE4-9741-913A-1ABF82A5F339}" dt="2023-09-29T15:51:55.302" v="3" actId="20577"/>
      <pc:docMkLst>
        <pc:docMk/>
      </pc:docMkLst>
      <pc:sldChg chg="modSp mod">
        <pc:chgData name="Therese Joseph" userId="0ad703bc-4450-47fb-a693-46ca1b9f2316" providerId="ADAL" clId="{5DA0D7BA-7FE4-9741-913A-1ABF82A5F339}" dt="2023-09-29T15:51:55.302" v="3" actId="20577"/>
        <pc:sldMkLst>
          <pc:docMk/>
          <pc:sldMk cId="40271717" sldId="256"/>
        </pc:sldMkLst>
        <pc:spChg chg="mod">
          <ac:chgData name="Therese Joseph" userId="0ad703bc-4450-47fb-a693-46ca1b9f2316" providerId="ADAL" clId="{5DA0D7BA-7FE4-9741-913A-1ABF82A5F339}" dt="2023-09-29T15:51:55.302" v="3" actId="20577"/>
          <ac:spMkLst>
            <pc:docMk/>
            <pc:sldMk cId="40271717" sldId="256"/>
            <ac:spMk id="66" creationId="{D1D589A0-BA78-5E63-328E-A8A14815D6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A1D6D-80C8-4C78-B655-E4D88DA2A9AC}" type="datetimeFigureOut">
              <a:rPr lang="en-US" smtClean="0"/>
              <a:t>9/30/23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038FB-52DA-415A-8AE3-245B833DD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49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61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04" algn="l" defTabSz="350761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610" algn="l" defTabSz="350761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414" algn="l" defTabSz="350761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219" algn="l" defTabSz="350761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023" algn="l" defTabSz="350761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2827" algn="l" defTabSz="350761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6633" algn="l" defTabSz="350761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437" algn="l" defTabSz="350761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038FB-52DA-415A-8AE3-245B833DD6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1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0282" y="4954765"/>
            <a:ext cx="36383199" cy="10540259"/>
          </a:xfrm>
        </p:spPr>
        <p:txBody>
          <a:bodyPr anchor="b"/>
          <a:lstStyle>
            <a:lvl1pPr algn="ctr">
              <a:defRPr sz="2648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50471" y="15901497"/>
            <a:ext cx="32102822" cy="7309499"/>
          </a:xfrm>
        </p:spPr>
        <p:txBody>
          <a:bodyPr/>
          <a:lstStyle>
            <a:lvl1pPr marL="0" indent="0" algn="ctr">
              <a:buNone/>
              <a:defRPr sz="10595"/>
            </a:lvl1pPr>
            <a:lvl2pPr marL="2018355" indent="0" algn="ctr">
              <a:buNone/>
              <a:defRPr sz="8829"/>
            </a:lvl2pPr>
            <a:lvl3pPr marL="4036710" indent="0" algn="ctr">
              <a:buNone/>
              <a:defRPr sz="7946"/>
            </a:lvl3pPr>
            <a:lvl4pPr marL="6055065" indent="0" algn="ctr">
              <a:buNone/>
              <a:defRPr sz="7063"/>
            </a:lvl4pPr>
            <a:lvl5pPr marL="8073420" indent="0" algn="ctr">
              <a:buNone/>
              <a:defRPr sz="7063"/>
            </a:lvl5pPr>
            <a:lvl6pPr marL="10091776" indent="0" algn="ctr">
              <a:buNone/>
              <a:defRPr sz="7063"/>
            </a:lvl6pPr>
            <a:lvl7pPr marL="12110131" indent="0" algn="ctr">
              <a:buNone/>
              <a:defRPr sz="7063"/>
            </a:lvl7pPr>
            <a:lvl8pPr marL="14128486" indent="0" algn="ctr">
              <a:buNone/>
              <a:defRPr sz="7063"/>
            </a:lvl8pPr>
            <a:lvl9pPr marL="16146841" indent="0" algn="ctr">
              <a:buNone/>
              <a:defRPr sz="706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7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0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0467" y="7547788"/>
            <a:ext cx="36918246" cy="12593645"/>
          </a:xfrm>
        </p:spPr>
        <p:txBody>
          <a:bodyPr anchor="b"/>
          <a:lstStyle>
            <a:lvl1pPr>
              <a:defRPr sz="2648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67" y="20260574"/>
            <a:ext cx="36918246" cy="6622701"/>
          </a:xfrm>
        </p:spPr>
        <p:txBody>
          <a:bodyPr/>
          <a:lstStyle>
            <a:lvl1pPr marL="0" indent="0">
              <a:buNone/>
              <a:defRPr sz="10595">
                <a:solidFill>
                  <a:schemeClr val="tx1"/>
                </a:solidFill>
              </a:defRPr>
            </a:lvl1pPr>
            <a:lvl2pPr marL="2018355" indent="0">
              <a:buNone/>
              <a:defRPr sz="8829">
                <a:solidFill>
                  <a:schemeClr val="tx1">
                    <a:tint val="75000"/>
                  </a:schemeClr>
                </a:solidFill>
              </a:defRPr>
            </a:lvl2pPr>
            <a:lvl3pPr marL="4036710" indent="0">
              <a:buNone/>
              <a:defRPr sz="7946">
                <a:solidFill>
                  <a:schemeClr val="tx1">
                    <a:tint val="75000"/>
                  </a:schemeClr>
                </a:solidFill>
              </a:defRPr>
            </a:lvl3pPr>
            <a:lvl4pPr marL="6055065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4pPr>
            <a:lvl5pPr marL="8073420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5pPr>
            <a:lvl6pPr marL="10091776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6pPr>
            <a:lvl7pPr marL="12110131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7pPr>
            <a:lvl8pPr marL="14128486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8pPr>
            <a:lvl9pPr marL="16146841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8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42759" y="8059374"/>
            <a:ext cx="18191599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69405" y="8059374"/>
            <a:ext cx="18191599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0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1611882"/>
            <a:ext cx="36918246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8339" y="7421634"/>
            <a:ext cx="18107995" cy="3637228"/>
          </a:xfrm>
        </p:spPr>
        <p:txBody>
          <a:bodyPr anchor="b"/>
          <a:lstStyle>
            <a:lvl1pPr marL="0" indent="0">
              <a:buNone/>
              <a:defRPr sz="10595" b="1"/>
            </a:lvl1pPr>
            <a:lvl2pPr marL="2018355" indent="0">
              <a:buNone/>
              <a:defRPr sz="8829" b="1"/>
            </a:lvl2pPr>
            <a:lvl3pPr marL="4036710" indent="0">
              <a:buNone/>
              <a:defRPr sz="7946" b="1"/>
            </a:lvl3pPr>
            <a:lvl4pPr marL="6055065" indent="0">
              <a:buNone/>
              <a:defRPr sz="7063" b="1"/>
            </a:lvl4pPr>
            <a:lvl5pPr marL="8073420" indent="0">
              <a:buNone/>
              <a:defRPr sz="7063" b="1"/>
            </a:lvl5pPr>
            <a:lvl6pPr marL="10091776" indent="0">
              <a:buNone/>
              <a:defRPr sz="7063" b="1"/>
            </a:lvl6pPr>
            <a:lvl7pPr marL="12110131" indent="0">
              <a:buNone/>
              <a:defRPr sz="7063" b="1"/>
            </a:lvl7pPr>
            <a:lvl8pPr marL="14128486" indent="0">
              <a:buNone/>
              <a:defRPr sz="7063" b="1"/>
            </a:lvl8pPr>
            <a:lvl9pPr marL="16146841" indent="0">
              <a:buNone/>
              <a:defRPr sz="706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48339" y="11058863"/>
            <a:ext cx="18107995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669408" y="7421634"/>
            <a:ext cx="18197174" cy="3637228"/>
          </a:xfrm>
        </p:spPr>
        <p:txBody>
          <a:bodyPr anchor="b"/>
          <a:lstStyle>
            <a:lvl1pPr marL="0" indent="0">
              <a:buNone/>
              <a:defRPr sz="10595" b="1"/>
            </a:lvl1pPr>
            <a:lvl2pPr marL="2018355" indent="0">
              <a:buNone/>
              <a:defRPr sz="8829" b="1"/>
            </a:lvl2pPr>
            <a:lvl3pPr marL="4036710" indent="0">
              <a:buNone/>
              <a:defRPr sz="7946" b="1"/>
            </a:lvl3pPr>
            <a:lvl4pPr marL="6055065" indent="0">
              <a:buNone/>
              <a:defRPr sz="7063" b="1"/>
            </a:lvl4pPr>
            <a:lvl5pPr marL="8073420" indent="0">
              <a:buNone/>
              <a:defRPr sz="7063" b="1"/>
            </a:lvl5pPr>
            <a:lvl6pPr marL="10091776" indent="0">
              <a:buNone/>
              <a:defRPr sz="7063" b="1"/>
            </a:lvl6pPr>
            <a:lvl7pPr marL="12110131" indent="0">
              <a:buNone/>
              <a:defRPr sz="7063" b="1"/>
            </a:lvl7pPr>
            <a:lvl8pPr marL="14128486" indent="0">
              <a:buNone/>
              <a:defRPr sz="7063" b="1"/>
            </a:lvl8pPr>
            <a:lvl9pPr marL="16146841" indent="0">
              <a:buNone/>
              <a:defRPr sz="706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669408" y="11058863"/>
            <a:ext cx="18197174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74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1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2018348"/>
            <a:ext cx="13805328" cy="7064216"/>
          </a:xfrm>
        </p:spPr>
        <p:txBody>
          <a:bodyPr anchor="b"/>
          <a:lstStyle>
            <a:lvl1pPr>
              <a:defRPr sz="141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97174" y="4359077"/>
            <a:ext cx="21669405" cy="21515024"/>
          </a:xfrm>
        </p:spPr>
        <p:txBody>
          <a:bodyPr/>
          <a:lstStyle>
            <a:lvl1pPr>
              <a:defRPr sz="14127"/>
            </a:lvl1pPr>
            <a:lvl2pPr>
              <a:defRPr sz="12361"/>
            </a:lvl2pPr>
            <a:lvl3pPr>
              <a:defRPr sz="10595"/>
            </a:lvl3pPr>
            <a:lvl4pPr>
              <a:defRPr sz="8829"/>
            </a:lvl4pPr>
            <a:lvl5pPr>
              <a:defRPr sz="8829"/>
            </a:lvl5pPr>
            <a:lvl6pPr>
              <a:defRPr sz="8829"/>
            </a:lvl6pPr>
            <a:lvl7pPr>
              <a:defRPr sz="8829"/>
            </a:lvl7pPr>
            <a:lvl8pPr>
              <a:defRPr sz="8829"/>
            </a:lvl8pPr>
            <a:lvl9pPr>
              <a:defRPr sz="882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8334" y="9082564"/>
            <a:ext cx="13805328" cy="16826573"/>
          </a:xfrm>
        </p:spPr>
        <p:txBody>
          <a:bodyPr/>
          <a:lstStyle>
            <a:lvl1pPr marL="0" indent="0">
              <a:buNone/>
              <a:defRPr sz="7063"/>
            </a:lvl1pPr>
            <a:lvl2pPr marL="2018355" indent="0">
              <a:buNone/>
              <a:defRPr sz="6180"/>
            </a:lvl2pPr>
            <a:lvl3pPr marL="4036710" indent="0">
              <a:buNone/>
              <a:defRPr sz="5298"/>
            </a:lvl3pPr>
            <a:lvl4pPr marL="6055065" indent="0">
              <a:buNone/>
              <a:defRPr sz="4415"/>
            </a:lvl4pPr>
            <a:lvl5pPr marL="8073420" indent="0">
              <a:buNone/>
              <a:defRPr sz="4415"/>
            </a:lvl5pPr>
            <a:lvl6pPr marL="10091776" indent="0">
              <a:buNone/>
              <a:defRPr sz="4415"/>
            </a:lvl6pPr>
            <a:lvl7pPr marL="12110131" indent="0">
              <a:buNone/>
              <a:defRPr sz="4415"/>
            </a:lvl7pPr>
            <a:lvl8pPr marL="14128486" indent="0">
              <a:buNone/>
              <a:defRPr sz="4415"/>
            </a:lvl8pPr>
            <a:lvl9pPr marL="16146841" indent="0">
              <a:buNone/>
              <a:defRPr sz="441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4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2018348"/>
            <a:ext cx="13805328" cy="7064216"/>
          </a:xfrm>
        </p:spPr>
        <p:txBody>
          <a:bodyPr anchor="b"/>
          <a:lstStyle>
            <a:lvl1pPr>
              <a:defRPr sz="141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197174" y="4359077"/>
            <a:ext cx="21669405" cy="21515024"/>
          </a:xfrm>
        </p:spPr>
        <p:txBody>
          <a:bodyPr anchor="t"/>
          <a:lstStyle>
            <a:lvl1pPr marL="0" indent="0">
              <a:buNone/>
              <a:defRPr sz="14127"/>
            </a:lvl1pPr>
            <a:lvl2pPr marL="2018355" indent="0">
              <a:buNone/>
              <a:defRPr sz="12361"/>
            </a:lvl2pPr>
            <a:lvl3pPr marL="4036710" indent="0">
              <a:buNone/>
              <a:defRPr sz="10595"/>
            </a:lvl3pPr>
            <a:lvl4pPr marL="6055065" indent="0">
              <a:buNone/>
              <a:defRPr sz="8829"/>
            </a:lvl4pPr>
            <a:lvl5pPr marL="8073420" indent="0">
              <a:buNone/>
              <a:defRPr sz="8829"/>
            </a:lvl5pPr>
            <a:lvl6pPr marL="10091776" indent="0">
              <a:buNone/>
              <a:defRPr sz="8829"/>
            </a:lvl6pPr>
            <a:lvl7pPr marL="12110131" indent="0">
              <a:buNone/>
              <a:defRPr sz="8829"/>
            </a:lvl7pPr>
            <a:lvl8pPr marL="14128486" indent="0">
              <a:buNone/>
              <a:defRPr sz="8829"/>
            </a:lvl8pPr>
            <a:lvl9pPr marL="16146841" indent="0">
              <a:buNone/>
              <a:defRPr sz="882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8334" y="9082564"/>
            <a:ext cx="13805328" cy="16826573"/>
          </a:xfrm>
        </p:spPr>
        <p:txBody>
          <a:bodyPr/>
          <a:lstStyle>
            <a:lvl1pPr marL="0" indent="0">
              <a:buNone/>
              <a:defRPr sz="7063"/>
            </a:lvl1pPr>
            <a:lvl2pPr marL="2018355" indent="0">
              <a:buNone/>
              <a:defRPr sz="6180"/>
            </a:lvl2pPr>
            <a:lvl3pPr marL="4036710" indent="0">
              <a:buNone/>
              <a:defRPr sz="5298"/>
            </a:lvl3pPr>
            <a:lvl4pPr marL="6055065" indent="0">
              <a:buNone/>
              <a:defRPr sz="4415"/>
            </a:lvl4pPr>
            <a:lvl5pPr marL="8073420" indent="0">
              <a:buNone/>
              <a:defRPr sz="4415"/>
            </a:lvl5pPr>
            <a:lvl6pPr marL="10091776" indent="0">
              <a:buNone/>
              <a:defRPr sz="4415"/>
            </a:lvl6pPr>
            <a:lvl7pPr marL="12110131" indent="0">
              <a:buNone/>
              <a:defRPr sz="4415"/>
            </a:lvl7pPr>
            <a:lvl8pPr marL="14128486" indent="0">
              <a:buNone/>
              <a:defRPr sz="4415"/>
            </a:lvl8pPr>
            <a:lvl9pPr marL="16146841" indent="0">
              <a:buNone/>
              <a:defRPr sz="441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48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73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631445" y="1611875"/>
            <a:ext cx="9229561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42761" y="1611875"/>
            <a:ext cx="271536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37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2759" y="1611882"/>
            <a:ext cx="36918246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2759" y="8059374"/>
            <a:ext cx="36918246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42759" y="28060644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2D646-F4E5-47B1-9595-B1456536581D}" type="datetimeFigureOut">
              <a:rPr lang="en-US" smtClean="0"/>
              <a:t>9/30/23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78747" y="28060644"/>
            <a:ext cx="14446270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230157" y="28060644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AE15F-8892-4E79-AB63-3A3032B0E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42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036710" rtl="0" eaLnBrk="1" latinLnBrk="0" hangingPunct="1">
        <a:lnSpc>
          <a:spcPct val="90000"/>
        </a:lnSpc>
        <a:spcBef>
          <a:spcPct val="0"/>
        </a:spcBef>
        <a:buNone/>
        <a:defRPr sz="194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9178" indent="-1009178" algn="l" defTabSz="4036710" rtl="0" eaLnBrk="1" latinLnBrk="0" hangingPunct="1">
        <a:lnSpc>
          <a:spcPct val="90000"/>
        </a:lnSpc>
        <a:spcBef>
          <a:spcPts val="4415"/>
        </a:spcBef>
        <a:buFont typeface="Arial" panose="020B0604020202020204" pitchFamily="34" charset="0"/>
        <a:buChar char="•"/>
        <a:defRPr sz="12361" kern="1200">
          <a:solidFill>
            <a:schemeClr val="tx1"/>
          </a:solidFill>
          <a:latin typeface="+mn-lt"/>
          <a:ea typeface="+mn-ea"/>
          <a:cs typeface="+mn-cs"/>
        </a:defRPr>
      </a:lvl1pPr>
      <a:lvl2pPr marL="302753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10595" kern="1200">
          <a:solidFill>
            <a:schemeClr val="tx1"/>
          </a:solidFill>
          <a:latin typeface="+mn-lt"/>
          <a:ea typeface="+mn-ea"/>
          <a:cs typeface="+mn-cs"/>
        </a:defRPr>
      </a:lvl2pPr>
      <a:lvl3pPr marL="504588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8829" kern="1200">
          <a:solidFill>
            <a:schemeClr val="tx1"/>
          </a:solidFill>
          <a:latin typeface="+mn-lt"/>
          <a:ea typeface="+mn-ea"/>
          <a:cs typeface="+mn-cs"/>
        </a:defRPr>
      </a:lvl3pPr>
      <a:lvl4pPr marL="706424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4pPr>
      <a:lvl5pPr marL="908259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5pPr>
      <a:lvl6pPr marL="1110095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6pPr>
      <a:lvl7pPr marL="1311930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7pPr>
      <a:lvl8pPr marL="1513766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8pPr>
      <a:lvl9pPr marL="17156019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1pPr>
      <a:lvl2pPr marL="2018355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403671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3pPr>
      <a:lvl4pPr marL="6055065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4pPr>
      <a:lvl5pPr marL="807342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5pPr>
      <a:lvl6pPr marL="10091776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6pPr>
      <a:lvl7pPr marL="12110131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7pPr>
      <a:lvl8pPr marL="14128486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8pPr>
      <a:lvl9pPr marL="16146841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jpe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12" Type="http://schemas.openxmlformats.org/officeDocument/2006/relationships/image" Target="../media/image10.jpe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5C733E61-EEB4-4DD5-9525-7CB3AD70CFBC}"/>
              </a:ext>
            </a:extLst>
          </p:cNvPr>
          <p:cNvSpPr txBox="1"/>
          <p:nvPr/>
        </p:nvSpPr>
        <p:spPr>
          <a:xfrm>
            <a:off x="6905838" y="784050"/>
            <a:ext cx="3184777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solidFill>
                  <a:srgbClr val="182428"/>
                </a:solidFill>
                <a:latin typeface="Montserrat" pitchFamily="2" charset="77"/>
              </a:rPr>
              <a:t>Trajectory Tracking via Multiscale Continuous Attractor Networks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AC51CA-42FA-4E3D-A50B-D51F8721F347}"/>
              </a:ext>
            </a:extLst>
          </p:cNvPr>
          <p:cNvSpPr txBox="1"/>
          <p:nvPr/>
        </p:nvSpPr>
        <p:spPr>
          <a:xfrm>
            <a:off x="8561676" y="1937230"/>
            <a:ext cx="2573393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i="1" dirty="0">
                <a:solidFill>
                  <a:srgbClr val="1824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Therese Joseph, Tobias Fischer, Michael Milford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3DDC54-3385-46EB-BE47-DE940136710F}"/>
              </a:ext>
            </a:extLst>
          </p:cNvPr>
          <p:cNvSpPr txBox="1"/>
          <p:nvPr/>
        </p:nvSpPr>
        <p:spPr>
          <a:xfrm>
            <a:off x="8534915" y="3002929"/>
            <a:ext cx="2573393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dirty="0">
                <a:solidFill>
                  <a:srgbClr val="1824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Queensland University of Technology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D55A44-3355-4F9E-BDB2-3930FD446670}"/>
              </a:ext>
            </a:extLst>
          </p:cNvPr>
          <p:cNvSpPr/>
          <p:nvPr/>
        </p:nvSpPr>
        <p:spPr>
          <a:xfrm>
            <a:off x="38049471" y="20054777"/>
            <a:ext cx="2565382" cy="4319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7" dirty="0">
                <a:solidFill>
                  <a:schemeClr val="bg1"/>
                </a:solidFill>
              </a:rPr>
              <a:t>From MIT Media Lab</a:t>
            </a:r>
            <a:endParaRPr lang="en-US" sz="2207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9C9834-6190-A784-FCDC-D0C37A1BE761}"/>
              </a:ext>
            </a:extLst>
          </p:cNvPr>
          <p:cNvGrpSpPr/>
          <p:nvPr/>
        </p:nvGrpSpPr>
        <p:grpSpPr>
          <a:xfrm>
            <a:off x="38674660" y="784049"/>
            <a:ext cx="3551199" cy="3215237"/>
            <a:chOff x="284921" y="189220"/>
            <a:chExt cx="5972500" cy="4578179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19AF38DC-C7CA-AD3A-8906-E5D06F7B84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62838"/>
            <a:stretch/>
          </p:blipFill>
          <p:spPr>
            <a:xfrm>
              <a:off x="284921" y="189220"/>
              <a:ext cx="5571804" cy="4578179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78F6D83-E006-B72E-5EE2-7A255374A99E}"/>
                </a:ext>
              </a:extLst>
            </p:cNvPr>
            <p:cNvSpPr/>
            <p:nvPr/>
          </p:nvSpPr>
          <p:spPr>
            <a:xfrm>
              <a:off x="4863484" y="1934976"/>
              <a:ext cx="1393937" cy="2740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1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1FFF2E7-BD6D-6A81-0956-5B2D603DF3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2782" y="9206816"/>
            <a:ext cx="12319315" cy="6506681"/>
          </a:xfrm>
          <a:prstGeom prst="rect">
            <a:avLst/>
          </a:prstGeom>
        </p:spPr>
      </p:pic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78A32B99-70A6-120F-0A4E-FCE945F923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32" y="1057308"/>
            <a:ext cx="5715117" cy="26319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EE114D-C587-5439-DF55-0403BE1575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0438" y="12933126"/>
            <a:ext cx="9148158" cy="52196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26233F-4055-4A37-178E-DC1D75339B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1945" y="19949679"/>
            <a:ext cx="7408755" cy="5737659"/>
          </a:xfrm>
          <a:prstGeom prst="rect">
            <a:avLst/>
          </a:prstGeom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591ABB07-8D58-A9BB-F341-1CC8E9351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046" y="11930267"/>
            <a:ext cx="5885107" cy="6347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41C5A279-7508-A8D6-1375-3AC639FFF1C3}"/>
              </a:ext>
            </a:extLst>
          </p:cNvPr>
          <p:cNvSpPr txBox="1"/>
          <p:nvPr/>
        </p:nvSpPr>
        <p:spPr>
          <a:xfrm>
            <a:off x="603101" y="3948485"/>
            <a:ext cx="13808310" cy="912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995" b="1" dirty="0">
                <a:solidFill>
                  <a:srgbClr val="0F4372"/>
                </a:solidFill>
              </a:rPr>
              <a:t>Motivation</a:t>
            </a:r>
            <a:endParaRPr lang="en-US" sz="6711" b="1" dirty="0">
              <a:solidFill>
                <a:srgbClr val="0F4372"/>
              </a:solidFill>
              <a:cs typeface="Arial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1D589A0-BA78-5E63-328E-A8A14815D614}"/>
              </a:ext>
            </a:extLst>
          </p:cNvPr>
          <p:cNvSpPr txBox="1"/>
          <p:nvPr/>
        </p:nvSpPr>
        <p:spPr>
          <a:xfrm>
            <a:off x="624211" y="4644127"/>
            <a:ext cx="12347197" cy="32218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AU" sz="4000" b="0" i="0" dirty="0">
                <a:effectLst/>
              </a:rPr>
              <a:t>We strive to improve robotics by leveraging neuroscience insights to develop advanced navigation systems. These systems aim to enhance existing bio-inspired models like </a:t>
            </a:r>
            <a:r>
              <a:rPr lang="en-AU" sz="4000" b="0" i="0" dirty="0" err="1">
                <a:effectLst/>
              </a:rPr>
              <a:t>RatSLAM</a:t>
            </a:r>
            <a:r>
              <a:rPr lang="en-AU" sz="4000" b="0" i="0" dirty="0">
                <a:effectLst/>
              </a:rPr>
              <a:t> [1] and </a:t>
            </a:r>
            <a:r>
              <a:rPr lang="en-AU" sz="4000" b="0" i="0" dirty="0" err="1">
                <a:effectLst/>
              </a:rPr>
              <a:t>NeuroSLAM</a:t>
            </a:r>
            <a:r>
              <a:rPr lang="en-AU" sz="4000" b="0" i="0" dirty="0">
                <a:effectLst/>
              </a:rPr>
              <a:t> [2], which use handcrafted, single-scale attractor networks.</a:t>
            </a:r>
            <a:endParaRPr lang="en-US" sz="4000" dirty="0">
              <a:cs typeface="Arial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0FF03D-3B8F-2A87-3C8F-5B51A4F10078}"/>
              </a:ext>
            </a:extLst>
          </p:cNvPr>
          <p:cNvSpPr txBox="1"/>
          <p:nvPr/>
        </p:nvSpPr>
        <p:spPr>
          <a:xfrm>
            <a:off x="577904" y="11035735"/>
            <a:ext cx="13808310" cy="912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995" b="1" dirty="0">
                <a:solidFill>
                  <a:srgbClr val="0F4372"/>
                </a:solidFill>
              </a:rPr>
              <a:t>Mechanisms in the brain for Spatial Navigation </a:t>
            </a:r>
            <a:endParaRPr lang="en-US" sz="6711" b="1" dirty="0">
              <a:solidFill>
                <a:srgbClr val="0F4372"/>
              </a:solidFill>
              <a:cs typeface="Arial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0E71B4-9D91-CF1B-4F0C-BD38ACF54CF8}"/>
              </a:ext>
            </a:extLst>
          </p:cNvPr>
          <p:cNvSpPr txBox="1"/>
          <p:nvPr/>
        </p:nvSpPr>
        <p:spPr>
          <a:xfrm>
            <a:off x="603101" y="11852870"/>
            <a:ext cx="8701766" cy="6145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180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Place Cells: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encodes place by selectively responding to unique spatial regions 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None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Head Direction Cells: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encodes orientation by firing maximally in the preferred direction 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Grid cells: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integrates spatial information at different scales, by producing tessellating firing patterns, that can be combined to uniquely identify a place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696FA8-7D4B-1A7D-7A58-DF6D97D79C01}"/>
              </a:ext>
            </a:extLst>
          </p:cNvPr>
          <p:cNvSpPr txBox="1"/>
          <p:nvPr/>
        </p:nvSpPr>
        <p:spPr>
          <a:xfrm>
            <a:off x="14718472" y="3919590"/>
            <a:ext cx="13808310" cy="912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995" b="1" dirty="0">
                <a:solidFill>
                  <a:srgbClr val="0F4372"/>
                </a:solidFill>
              </a:rPr>
              <a:t>Methodology </a:t>
            </a:r>
            <a:endParaRPr lang="en-US" sz="6711" b="1" dirty="0">
              <a:solidFill>
                <a:srgbClr val="0F4372"/>
              </a:solidFill>
              <a:cs typeface="Arial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2C43AA-38F3-26F7-3CDF-ED8AB7A4F19A}"/>
              </a:ext>
            </a:extLst>
          </p:cNvPr>
          <p:cNvSpPr txBox="1"/>
          <p:nvPr/>
        </p:nvSpPr>
        <p:spPr>
          <a:xfrm>
            <a:off x="14852744" y="15952463"/>
            <a:ext cx="13808310" cy="912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995" b="1" dirty="0">
                <a:solidFill>
                  <a:srgbClr val="0F4372"/>
                </a:solidFill>
              </a:rPr>
              <a:t>Continuous Attractor Network Dynamics </a:t>
            </a:r>
            <a:endParaRPr lang="en-US" sz="6711" b="1" dirty="0">
              <a:solidFill>
                <a:srgbClr val="0F4372"/>
              </a:solidFill>
              <a:cs typeface="Arial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D368CFF-5C0B-4721-3B92-70F2E5FB7E2C}"/>
              </a:ext>
            </a:extLst>
          </p:cNvPr>
          <p:cNvSpPr txBox="1"/>
          <p:nvPr/>
        </p:nvSpPr>
        <p:spPr>
          <a:xfrm>
            <a:off x="28954625" y="10066058"/>
            <a:ext cx="13808310" cy="912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995" b="1" dirty="0">
                <a:solidFill>
                  <a:srgbClr val="0F4372"/>
                </a:solidFill>
              </a:rPr>
              <a:t>Performance</a:t>
            </a:r>
            <a:endParaRPr lang="en-US" sz="6711" b="1" dirty="0">
              <a:solidFill>
                <a:srgbClr val="0F4372"/>
              </a:solidFill>
              <a:cs typeface="Arial"/>
            </a:endParaRP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9B157BDA-1D9A-8BBF-04C1-A8EC583D9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006389"/>
              </p:ext>
            </p:extLst>
          </p:nvPr>
        </p:nvGraphicFramePr>
        <p:xfrm>
          <a:off x="29125999" y="6090350"/>
          <a:ext cx="12541652" cy="403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3076">
                  <a:extLst>
                    <a:ext uri="{9D8B030D-6E8A-4147-A177-3AD203B41FA5}">
                      <a16:colId xmlns:a16="http://schemas.microsoft.com/office/drawing/2014/main" val="4006339168"/>
                    </a:ext>
                  </a:extLst>
                </a:gridCol>
                <a:gridCol w="3528239">
                  <a:extLst>
                    <a:ext uri="{9D8B030D-6E8A-4147-A177-3AD203B41FA5}">
                      <a16:colId xmlns:a16="http://schemas.microsoft.com/office/drawing/2014/main" val="1752248848"/>
                    </a:ext>
                  </a:extLst>
                </a:gridCol>
                <a:gridCol w="3760337">
                  <a:extLst>
                    <a:ext uri="{9D8B030D-6E8A-4147-A177-3AD203B41FA5}">
                      <a16:colId xmlns:a16="http://schemas.microsoft.com/office/drawing/2014/main" val="2732999237"/>
                    </a:ext>
                  </a:extLst>
                </a:gridCol>
              </a:tblGrid>
              <a:tr h="672815">
                <a:tc>
                  <a:txBody>
                    <a:bodyPr/>
                    <a:lstStyle/>
                    <a:p>
                      <a:pPr algn="l"/>
                      <a:r>
                        <a:rPr lang="en-AU" sz="3600" b="0" i="1" kern="1200" dirty="0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endParaRPr lang="en-US" sz="3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0" i="1" kern="1200" dirty="0">
                          <a:solidFill>
                            <a:schemeClr val="tx1"/>
                          </a:solidFill>
                          <a:effectLst/>
                        </a:rPr>
                        <a:t> Single-scale</a:t>
                      </a:r>
                      <a:endParaRPr lang="en-US" sz="3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0" i="1" kern="1200" dirty="0">
                          <a:solidFill>
                            <a:schemeClr val="tx1"/>
                          </a:solidFill>
                          <a:effectLst/>
                        </a:rPr>
                        <a:t>Multiscale (ours)</a:t>
                      </a:r>
                      <a:endParaRPr lang="en-US" sz="3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077288"/>
                  </a:ext>
                </a:extLst>
              </a:tr>
              <a:tr h="672815">
                <a:tc>
                  <a:txBody>
                    <a:bodyPr/>
                    <a:lstStyle/>
                    <a:p>
                      <a:pPr algn="l"/>
                      <a:r>
                        <a:rPr lang="en-AU" sz="3600" b="0" i="0" kern="1200" dirty="0">
                          <a:solidFill>
                            <a:schemeClr val="tx1"/>
                          </a:solidFill>
                          <a:effectLst/>
                        </a:rPr>
                        <a:t>Tokyo (CSN simulation)</a:t>
                      </a:r>
                      <a:endParaRPr lang="en-US" sz="360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0" dirty="0">
                          <a:effectLst/>
                        </a:rPr>
                        <a:t>1.093 ± 0.110 </a:t>
                      </a:r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1" dirty="0">
                          <a:effectLst/>
                        </a:rPr>
                        <a:t>0.068 ± 0.010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583267"/>
                  </a:ext>
                </a:extLst>
              </a:tr>
              <a:tr h="672815">
                <a:tc>
                  <a:txBody>
                    <a:bodyPr/>
                    <a:lstStyle/>
                    <a:p>
                      <a:pPr algn="l"/>
                      <a:r>
                        <a:rPr lang="en-AU" sz="3600" b="0" i="0" kern="1200" dirty="0">
                          <a:solidFill>
                            <a:schemeClr val="tx1"/>
                          </a:solidFill>
                          <a:effectLst/>
                        </a:rPr>
                        <a:t>Brisbane (CSN simulation)</a:t>
                      </a:r>
                      <a:endParaRPr lang="en-US" sz="360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0" dirty="0">
                          <a:effectLst/>
                        </a:rPr>
                        <a:t>0.934 ± 0.102 </a:t>
                      </a:r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1" dirty="0">
                          <a:effectLst/>
                        </a:rPr>
                        <a:t>0.070 ± 0.019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031595"/>
                  </a:ext>
                </a:extLst>
              </a:tr>
              <a:tr h="672815">
                <a:tc>
                  <a:txBody>
                    <a:bodyPr/>
                    <a:lstStyle/>
                    <a:p>
                      <a:pPr algn="l"/>
                      <a:r>
                        <a:rPr lang="en-AU" sz="3600" b="0" i="0" kern="1200" dirty="0">
                          <a:solidFill>
                            <a:schemeClr val="tx1"/>
                          </a:solidFill>
                          <a:effectLst/>
                        </a:rPr>
                        <a:t>Berlin (CSN simulation)</a:t>
                      </a:r>
                      <a:endParaRPr lang="en-US" sz="360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0" dirty="0">
                          <a:effectLst/>
                        </a:rPr>
                        <a:t>0.896 ± 0.166</a:t>
                      </a:r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1" dirty="0">
                          <a:effectLst/>
                        </a:rPr>
                        <a:t>0.046 ± 0.021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418063"/>
                  </a:ext>
                </a:extLst>
              </a:tr>
              <a:tr h="672815">
                <a:tc>
                  <a:txBody>
                    <a:bodyPr/>
                    <a:lstStyle/>
                    <a:p>
                      <a:pPr algn="l"/>
                      <a:r>
                        <a:rPr lang="en-AU" sz="3600" b="0" i="0" kern="1200" dirty="0">
                          <a:solidFill>
                            <a:schemeClr val="tx1"/>
                          </a:solidFill>
                          <a:effectLst/>
                        </a:rPr>
                        <a:t>New York (CSN simulation)</a:t>
                      </a:r>
                      <a:endParaRPr lang="en-US" sz="360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0" dirty="0">
                          <a:effectLst/>
                        </a:rPr>
                        <a:t>0.893 ± 0.137 </a:t>
                      </a:r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1" dirty="0">
                          <a:effectLst/>
                        </a:rPr>
                        <a:t>0.070 ± 0.028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601168"/>
                  </a:ext>
                </a:extLst>
              </a:tr>
              <a:tr h="672815">
                <a:tc>
                  <a:txBody>
                    <a:bodyPr/>
                    <a:lstStyle/>
                    <a:p>
                      <a:pPr algn="l"/>
                      <a:r>
                        <a:rPr lang="en-AU" sz="3600" b="0" i="0" kern="1200" dirty="0">
                          <a:solidFill>
                            <a:schemeClr val="tx1"/>
                          </a:solidFill>
                          <a:effectLst/>
                        </a:rPr>
                        <a:t>Kitti (odometry)</a:t>
                      </a:r>
                      <a:endParaRPr lang="en-US" sz="360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0" dirty="0">
                          <a:effectLst/>
                        </a:rPr>
                        <a:t>0.136 ± 0.138 </a:t>
                      </a:r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b="1" dirty="0">
                          <a:effectLst/>
                        </a:rPr>
                        <a:t>0.041 ± 0.02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97970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48A8103E-E75C-A7A4-F633-0ABAC0ABBCDD}"/>
              </a:ext>
            </a:extLst>
          </p:cNvPr>
          <p:cNvSpPr txBox="1"/>
          <p:nvPr/>
        </p:nvSpPr>
        <p:spPr>
          <a:xfrm>
            <a:off x="29110365" y="25561458"/>
            <a:ext cx="13808310" cy="912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995" b="1" dirty="0">
                <a:solidFill>
                  <a:srgbClr val="0F4372"/>
                </a:solidFill>
              </a:rPr>
              <a:t>Future Direction </a:t>
            </a:r>
            <a:endParaRPr lang="en-US" sz="6711" b="1" dirty="0">
              <a:solidFill>
                <a:srgbClr val="0F4372"/>
              </a:solidFill>
              <a:cs typeface="Arial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0BE0A73-B726-9462-491D-52CA98D5F319}"/>
              </a:ext>
            </a:extLst>
          </p:cNvPr>
          <p:cNvSpPr txBox="1"/>
          <p:nvPr/>
        </p:nvSpPr>
        <p:spPr>
          <a:xfrm>
            <a:off x="29110365" y="26260571"/>
            <a:ext cx="12463750" cy="19907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000" dirty="0">
                <a:ea typeface="+mn-lt"/>
                <a:cs typeface="+mn-lt"/>
              </a:rPr>
              <a:t>Develop a complete bio-inspired SLAM system with a dead reckoning back end and localization front end, using the CAN framework. </a:t>
            </a:r>
            <a:endParaRPr lang="en-US" sz="4000" dirty="0">
              <a:cs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BE489F-B9EB-0825-B7D1-B5F9C666B745}"/>
              </a:ext>
            </a:extLst>
          </p:cNvPr>
          <p:cNvSpPr txBox="1"/>
          <p:nvPr/>
        </p:nvSpPr>
        <p:spPr>
          <a:xfrm>
            <a:off x="14801615" y="4640472"/>
            <a:ext cx="12640482" cy="44529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AU" sz="4000" b="0" i="0" dirty="0">
                <a:effectLst/>
              </a:rPr>
              <a:t>Our proposed Multiscale Continuous Attractor Networks (MCAN) is a bio-inspired neural network architecture with parallel networks at various spatial scales. This allows the network to operate at a wide range of velocities, without incurring excessive memory usage. As shown below, </a:t>
            </a:r>
            <a:r>
              <a:rPr lang="en-US" sz="4000" dirty="0">
                <a:ea typeface="+mn-lt"/>
                <a:cs typeface="+mn-lt"/>
              </a:rPr>
              <a:t>MCAN integrates linear velocity and head direction inputs at various scales to generate trajectory estimates.  </a:t>
            </a:r>
            <a:endParaRPr lang="en-US" sz="4000" dirty="0">
              <a:cs typeface="Arial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C05D437-066A-8614-D328-7851E3C9853D}"/>
              </a:ext>
            </a:extLst>
          </p:cNvPr>
          <p:cNvSpPr txBox="1"/>
          <p:nvPr/>
        </p:nvSpPr>
        <p:spPr>
          <a:xfrm>
            <a:off x="14862402" y="16727840"/>
            <a:ext cx="13086043" cy="32218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000" dirty="0">
                <a:ea typeface="+mn-lt"/>
                <a:cs typeface="+mn-lt"/>
              </a:rPr>
              <a:t>An attractor network consists of recurrently connected neurons that can integrate input information through the excitation and inhibition of neighboring neurons [3]. The following steps illustrates one network update at a single scale. </a:t>
            </a:r>
            <a:endParaRPr lang="en-US" sz="4000" dirty="0">
              <a:cs typeface="Arial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93B5C2C-CBE9-648A-F6C6-3A10F935645D}"/>
              </a:ext>
            </a:extLst>
          </p:cNvPr>
          <p:cNvSpPr txBox="1"/>
          <p:nvPr/>
        </p:nvSpPr>
        <p:spPr>
          <a:xfrm>
            <a:off x="28996082" y="4639046"/>
            <a:ext cx="12640482" cy="13751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000" dirty="0">
                <a:ea typeface="+mn-lt"/>
                <a:cs typeface="+mn-lt"/>
              </a:rPr>
              <a:t>The absolute trajectory error for our multiscale system was orders of magnitude lower than the single-scale baseline.</a:t>
            </a:r>
            <a:endParaRPr lang="en-US" sz="4000" dirty="0">
              <a:cs typeface="Arial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FBF6379-E7DE-275E-BD99-56AD13D32810}"/>
              </a:ext>
            </a:extLst>
          </p:cNvPr>
          <p:cNvSpPr txBox="1"/>
          <p:nvPr/>
        </p:nvSpPr>
        <p:spPr>
          <a:xfrm>
            <a:off x="29032464" y="10868597"/>
            <a:ext cx="12541652" cy="26062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000" dirty="0">
                <a:ea typeface="+mn-lt"/>
                <a:cs typeface="+mn-lt"/>
              </a:rPr>
              <a:t>The MCAN accurately tracks the path across Kitti and simulated trajectories, with improved performance at regions of high velocity in comparison to the single scale network. </a:t>
            </a:r>
            <a:endParaRPr lang="en-US" sz="4000" dirty="0">
              <a:cs typeface="Arial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92B313F-C4F3-40E7-F6DE-F0973E99D6C9}"/>
              </a:ext>
            </a:extLst>
          </p:cNvPr>
          <p:cNvGrpSpPr/>
          <p:nvPr/>
        </p:nvGrpSpPr>
        <p:grpSpPr>
          <a:xfrm>
            <a:off x="815366" y="19005408"/>
            <a:ext cx="7053247" cy="6533831"/>
            <a:chOff x="1611818" y="109059"/>
            <a:chExt cx="3650464" cy="3532338"/>
          </a:xfrm>
        </p:grpSpPr>
        <p:pic>
          <p:nvPicPr>
            <p:cNvPr id="90" name="Picture 89" descr="Map&#10;&#10;Description automatically generated">
              <a:extLst>
                <a:ext uri="{FF2B5EF4-FFF2-40B4-BE49-F238E27FC236}">
                  <a16:creationId xmlns:a16="http://schemas.microsoft.com/office/drawing/2014/main" id="{B6A3C89D-2210-05CC-F6A5-31C75703B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3832" y="138625"/>
              <a:ext cx="3648450" cy="35027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0FEACBE-8269-0C2E-129F-9DB85E6DA780}"/>
                </a:ext>
              </a:extLst>
            </p:cNvPr>
            <p:cNvSpPr txBox="1"/>
            <p:nvPr/>
          </p:nvSpPr>
          <p:spPr>
            <a:xfrm>
              <a:off x="1611819" y="138625"/>
              <a:ext cx="959370" cy="283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Berlin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E01ACF2-6B27-B0CA-0365-301F65198837}"/>
                </a:ext>
              </a:extLst>
            </p:cNvPr>
            <p:cNvSpPr txBox="1"/>
            <p:nvPr/>
          </p:nvSpPr>
          <p:spPr>
            <a:xfrm>
              <a:off x="3499832" y="109059"/>
              <a:ext cx="1329510" cy="283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Brisbane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A57B47E-8B24-2E5D-FFDA-E760DAA6AC04}"/>
                </a:ext>
              </a:extLst>
            </p:cNvPr>
            <p:cNvSpPr txBox="1"/>
            <p:nvPr/>
          </p:nvSpPr>
          <p:spPr>
            <a:xfrm>
              <a:off x="1611818" y="1890011"/>
              <a:ext cx="1521126" cy="283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New York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F11A6D0-2DBC-8DD5-BBB7-1B22C26B072D}"/>
                </a:ext>
              </a:extLst>
            </p:cNvPr>
            <p:cNvSpPr txBox="1"/>
            <p:nvPr/>
          </p:nvSpPr>
          <p:spPr>
            <a:xfrm>
              <a:off x="3499832" y="1875228"/>
              <a:ext cx="959370" cy="283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Japan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183DC7D-1822-4516-2778-1750BA0CEE4B}"/>
              </a:ext>
            </a:extLst>
          </p:cNvPr>
          <p:cNvGrpSpPr/>
          <p:nvPr/>
        </p:nvGrpSpPr>
        <p:grpSpPr>
          <a:xfrm>
            <a:off x="8017927" y="19306604"/>
            <a:ext cx="6244830" cy="5955165"/>
            <a:chOff x="5744080" y="0"/>
            <a:chExt cx="3990646" cy="3920269"/>
          </a:xfrm>
        </p:grpSpPr>
        <p:pic>
          <p:nvPicPr>
            <p:cNvPr id="96" name="Picture 95" descr="Map&#10;&#10;Description automatically generated">
              <a:extLst>
                <a:ext uri="{FF2B5EF4-FFF2-40B4-BE49-F238E27FC236}">
                  <a16:creationId xmlns:a16="http://schemas.microsoft.com/office/drawing/2014/main" id="{208C0409-6683-E61B-9530-F69D95E6BF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775"/>
            <a:stretch/>
          </p:blipFill>
          <p:spPr>
            <a:xfrm>
              <a:off x="5744080" y="0"/>
              <a:ext cx="3990646" cy="3920269"/>
            </a:xfrm>
            <a:prstGeom prst="rect">
              <a:avLst/>
            </a:prstGeom>
          </p:spPr>
        </p:pic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BCE23DB-E20F-7292-2D00-260A09D04A42}"/>
                </a:ext>
              </a:extLst>
            </p:cNvPr>
            <p:cNvGrpSpPr/>
            <p:nvPr/>
          </p:nvGrpSpPr>
          <p:grpSpPr>
            <a:xfrm>
              <a:off x="6549023" y="413152"/>
              <a:ext cx="2601221" cy="3015848"/>
              <a:chOff x="4026700" y="4262460"/>
              <a:chExt cx="2258153" cy="2491926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4ADD10D2-07F8-0CEC-41AB-A8E5F8EA4313}"/>
                  </a:ext>
                </a:extLst>
              </p:cNvPr>
              <p:cNvGrpSpPr/>
              <p:nvPr/>
            </p:nvGrpSpPr>
            <p:grpSpPr>
              <a:xfrm>
                <a:off x="4874813" y="5152984"/>
                <a:ext cx="267331" cy="315656"/>
                <a:chOff x="2627223" y="2332186"/>
                <a:chExt cx="574018" cy="604208"/>
              </a:xfrm>
            </p:grpSpPr>
            <p:sp>
              <p:nvSpPr>
                <p:cNvPr id="100" name="Rounded Rectangle 99">
                  <a:extLst>
                    <a:ext uri="{FF2B5EF4-FFF2-40B4-BE49-F238E27FC236}">
                      <a16:creationId xmlns:a16="http://schemas.microsoft.com/office/drawing/2014/main" id="{461F9709-F2E1-236B-D4E4-40E0832E5999}"/>
                    </a:ext>
                  </a:extLst>
                </p:cNvPr>
                <p:cNvSpPr/>
                <p:nvPr/>
              </p:nvSpPr>
              <p:spPr>
                <a:xfrm rot="19298014">
                  <a:off x="2733990" y="2336739"/>
                  <a:ext cx="312838" cy="540251"/>
                </a:xfrm>
                <a:prstGeom prst="roundRect">
                  <a:avLst/>
                </a:prstGeom>
                <a:solidFill>
                  <a:srgbClr val="C00000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8ADCB8C5-E921-8060-1542-6BCB705CFEBD}"/>
                    </a:ext>
                  </a:extLst>
                </p:cNvPr>
                <p:cNvSpPr/>
                <p:nvPr/>
              </p:nvSpPr>
              <p:spPr>
                <a:xfrm rot="19305972">
                  <a:off x="3141138" y="2610652"/>
                  <a:ext cx="60103" cy="10848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7CA7AAC2-7F74-5795-2A5D-72AE37C5BA75}"/>
                    </a:ext>
                  </a:extLst>
                </p:cNvPr>
                <p:cNvSpPr/>
                <p:nvPr/>
              </p:nvSpPr>
              <p:spPr>
                <a:xfrm rot="19305972">
                  <a:off x="2831350" y="2827914"/>
                  <a:ext cx="60103" cy="10848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447F4BD2-87A5-30A0-1222-25ADD74C5C2A}"/>
                    </a:ext>
                  </a:extLst>
                </p:cNvPr>
                <p:cNvSpPr/>
                <p:nvPr/>
              </p:nvSpPr>
              <p:spPr>
                <a:xfrm rot="19305972">
                  <a:off x="2937011" y="2332186"/>
                  <a:ext cx="60103" cy="10848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03AA804D-D4EC-6E5F-7062-58386B2B4999}"/>
                    </a:ext>
                  </a:extLst>
                </p:cNvPr>
                <p:cNvSpPr/>
                <p:nvPr/>
              </p:nvSpPr>
              <p:spPr>
                <a:xfrm rot="19305972">
                  <a:off x="2627223" y="2549448"/>
                  <a:ext cx="60103" cy="10848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B4D481A7-333D-E944-22FD-C5127C4F8F9A}"/>
                  </a:ext>
                </a:extLst>
              </p:cNvPr>
              <p:cNvSpPr/>
              <p:nvPr/>
            </p:nvSpPr>
            <p:spPr>
              <a:xfrm>
                <a:off x="4026700" y="4262460"/>
                <a:ext cx="2258153" cy="2491926"/>
              </a:xfrm>
              <a:custGeom>
                <a:avLst/>
                <a:gdLst>
                  <a:gd name="connsiteX0" fmla="*/ 0 w 3286125"/>
                  <a:gd name="connsiteY0" fmla="*/ 0 h 3354518"/>
                  <a:gd name="connsiteX1" fmla="*/ 1200150 w 3286125"/>
                  <a:gd name="connsiteY1" fmla="*/ 1143000 h 3354518"/>
                  <a:gd name="connsiteX2" fmla="*/ 1600200 w 3286125"/>
                  <a:gd name="connsiteY2" fmla="*/ 1693068 h 3354518"/>
                  <a:gd name="connsiteX3" fmla="*/ 1643063 w 3286125"/>
                  <a:gd name="connsiteY3" fmla="*/ 2228850 h 3354518"/>
                  <a:gd name="connsiteX4" fmla="*/ 1707356 w 3286125"/>
                  <a:gd name="connsiteY4" fmla="*/ 2721768 h 3354518"/>
                  <a:gd name="connsiteX5" fmla="*/ 1750219 w 3286125"/>
                  <a:gd name="connsiteY5" fmla="*/ 3000375 h 3354518"/>
                  <a:gd name="connsiteX6" fmla="*/ 1907381 w 3286125"/>
                  <a:gd name="connsiteY6" fmla="*/ 3136106 h 3354518"/>
                  <a:gd name="connsiteX7" fmla="*/ 2407444 w 3286125"/>
                  <a:gd name="connsiteY7" fmla="*/ 3128962 h 3354518"/>
                  <a:gd name="connsiteX8" fmla="*/ 2771775 w 3286125"/>
                  <a:gd name="connsiteY8" fmla="*/ 3078956 h 3354518"/>
                  <a:gd name="connsiteX9" fmla="*/ 3064669 w 3286125"/>
                  <a:gd name="connsiteY9" fmla="*/ 3243262 h 3354518"/>
                  <a:gd name="connsiteX10" fmla="*/ 3286125 w 3286125"/>
                  <a:gd name="connsiteY10" fmla="*/ 3350418 h 3354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6125" h="3354518">
                    <a:moveTo>
                      <a:pt x="0" y="0"/>
                    </a:moveTo>
                    <a:cubicBezTo>
                      <a:pt x="466725" y="430411"/>
                      <a:pt x="933450" y="860822"/>
                      <a:pt x="1200150" y="1143000"/>
                    </a:cubicBezTo>
                    <a:cubicBezTo>
                      <a:pt x="1466850" y="1425178"/>
                      <a:pt x="1526381" y="1512093"/>
                      <a:pt x="1600200" y="1693068"/>
                    </a:cubicBezTo>
                    <a:cubicBezTo>
                      <a:pt x="1674019" y="1874043"/>
                      <a:pt x="1625204" y="2057400"/>
                      <a:pt x="1643063" y="2228850"/>
                    </a:cubicBezTo>
                    <a:cubicBezTo>
                      <a:pt x="1660922" y="2400300"/>
                      <a:pt x="1689497" y="2593181"/>
                      <a:pt x="1707356" y="2721768"/>
                    </a:cubicBezTo>
                    <a:cubicBezTo>
                      <a:pt x="1725215" y="2850355"/>
                      <a:pt x="1716882" y="2931319"/>
                      <a:pt x="1750219" y="3000375"/>
                    </a:cubicBezTo>
                    <a:cubicBezTo>
                      <a:pt x="1783557" y="3069431"/>
                      <a:pt x="1797844" y="3114675"/>
                      <a:pt x="1907381" y="3136106"/>
                    </a:cubicBezTo>
                    <a:cubicBezTo>
                      <a:pt x="2016918" y="3157537"/>
                      <a:pt x="2263378" y="3138487"/>
                      <a:pt x="2407444" y="3128962"/>
                    </a:cubicBezTo>
                    <a:cubicBezTo>
                      <a:pt x="2551510" y="3119437"/>
                      <a:pt x="2662238" y="3059906"/>
                      <a:pt x="2771775" y="3078956"/>
                    </a:cubicBezTo>
                    <a:cubicBezTo>
                      <a:pt x="2881312" y="3098006"/>
                      <a:pt x="2978944" y="3198018"/>
                      <a:pt x="3064669" y="3243262"/>
                    </a:cubicBezTo>
                    <a:cubicBezTo>
                      <a:pt x="3150394" y="3288506"/>
                      <a:pt x="3245644" y="3374231"/>
                      <a:pt x="3286125" y="3350418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94663309-66C9-32E5-47F1-59AC8680BCDC}"/>
              </a:ext>
            </a:extLst>
          </p:cNvPr>
          <p:cNvSpPr txBox="1"/>
          <p:nvPr/>
        </p:nvSpPr>
        <p:spPr>
          <a:xfrm>
            <a:off x="603101" y="18148752"/>
            <a:ext cx="13808310" cy="912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995" b="1" dirty="0">
                <a:solidFill>
                  <a:srgbClr val="0F4372"/>
                </a:solidFill>
              </a:rPr>
              <a:t>City Scale Navigation Simulator  </a:t>
            </a:r>
            <a:endParaRPr lang="en-US" sz="6711" b="1" dirty="0">
              <a:solidFill>
                <a:srgbClr val="0F4372"/>
              </a:solidFill>
              <a:cs typeface="Arial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2D44869-D723-2827-2A6F-7DC07C8CEF2B}"/>
              </a:ext>
            </a:extLst>
          </p:cNvPr>
          <p:cNvSpPr txBox="1"/>
          <p:nvPr/>
        </p:nvSpPr>
        <p:spPr>
          <a:xfrm>
            <a:off x="28996082" y="3926154"/>
            <a:ext cx="13808310" cy="912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995" b="1" dirty="0">
                <a:solidFill>
                  <a:srgbClr val="0F4372"/>
                </a:solidFill>
              </a:rPr>
              <a:t>Results</a:t>
            </a:r>
            <a:endParaRPr lang="en-US" sz="6711" b="1" dirty="0">
              <a:solidFill>
                <a:srgbClr val="0F4372"/>
              </a:solidFill>
              <a:cs typeface="Arial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1F42D77-6516-46E9-0B14-AB5D8EF78F55}"/>
              </a:ext>
            </a:extLst>
          </p:cNvPr>
          <p:cNvSpPr txBox="1"/>
          <p:nvPr/>
        </p:nvSpPr>
        <p:spPr>
          <a:xfrm>
            <a:off x="29086800" y="18165942"/>
            <a:ext cx="13344909" cy="19907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ea typeface="+mn-lt"/>
                <a:cs typeface="+mn-lt"/>
              </a:rPr>
              <a:t>The multiscale and single scale networks were tested on 20 trajectories with increasing velocity ranges, revealing the robustness to velocity change within the multiscale network.</a:t>
            </a:r>
            <a:endParaRPr lang="en-US" sz="4000" dirty="0">
              <a:cs typeface="Arial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96A3CB5-625D-C6BE-724D-15F36B7F4202}"/>
              </a:ext>
            </a:extLst>
          </p:cNvPr>
          <p:cNvSpPr txBox="1"/>
          <p:nvPr/>
        </p:nvSpPr>
        <p:spPr>
          <a:xfrm>
            <a:off x="29146799" y="28762403"/>
            <a:ext cx="124637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This work received funding from ARC Laureate Fellowship FL210100156 to MM, and from a grant from Intel Labs to TF and MM. The authors acknowledge continued support from the Queensland University of Technology (QUT) through the Centre for Robotics.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636F63E-9B8D-A9CD-25AC-F48CF677D317}"/>
              </a:ext>
            </a:extLst>
          </p:cNvPr>
          <p:cNvSpPr txBox="1"/>
          <p:nvPr/>
        </p:nvSpPr>
        <p:spPr>
          <a:xfrm>
            <a:off x="603101" y="25511422"/>
            <a:ext cx="12340121" cy="19907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000" dirty="0">
                <a:ea typeface="+mn-lt"/>
                <a:cs typeface="+mn-lt"/>
              </a:rPr>
              <a:t>To provide challenging navigational scale ranges, we contribute a flexible city-scale navigation simulator that adapts to any street network.</a:t>
            </a:r>
            <a:endParaRPr lang="en-US" sz="4000" dirty="0">
              <a:cs typeface="Arial"/>
            </a:endParaRPr>
          </a:p>
        </p:txBody>
      </p:sp>
      <p:pic>
        <p:nvPicPr>
          <p:cNvPr id="1034" name="Picture 10" descr="Free Birds Flying under a Blue Sky Stock Photo">
            <a:extLst>
              <a:ext uri="{FF2B5EF4-FFF2-40B4-BE49-F238E27FC236}">
                <a16:creationId xmlns:a16="http://schemas.microsoft.com/office/drawing/2014/main" id="{F433B5C5-1464-1D49-5A08-B81EA1241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96" y="7906052"/>
            <a:ext cx="4092728" cy="272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66ECCA3A-94DE-768A-D088-B5C7C4618894}"/>
              </a:ext>
            </a:extLst>
          </p:cNvPr>
          <p:cNvSpPr txBox="1"/>
          <p:nvPr/>
        </p:nvSpPr>
        <p:spPr>
          <a:xfrm>
            <a:off x="28585435" y="329804"/>
            <a:ext cx="14170939" cy="7170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https://github.com/theresejoseph/Trajectory_Tracking_via_MCAN.git</a:t>
            </a:r>
            <a:endParaRPr lang="en-US" sz="3600" dirty="0">
              <a:solidFill>
                <a:schemeClr val="accent1">
                  <a:lumMod val="50000"/>
                </a:schemeClr>
              </a:solidFill>
              <a:cs typeface="Arial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AEC6069-4F42-8A19-83AE-E2676FB8412B}"/>
              </a:ext>
            </a:extLst>
          </p:cNvPr>
          <p:cNvSpPr txBox="1"/>
          <p:nvPr/>
        </p:nvSpPr>
        <p:spPr>
          <a:xfrm>
            <a:off x="577904" y="353368"/>
            <a:ext cx="9618739" cy="7596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Email: t2.joseph@hdr.qut.edu.au</a:t>
            </a:r>
            <a:endParaRPr lang="en-US" sz="4000" dirty="0">
              <a:solidFill>
                <a:schemeClr val="accent1">
                  <a:lumMod val="50000"/>
                </a:schemeClr>
              </a:solidFill>
              <a:cs typeface="Arial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3DEDA-D33A-2407-A7A0-07FA03665E68}"/>
              </a:ext>
            </a:extLst>
          </p:cNvPr>
          <p:cNvSpPr txBox="1"/>
          <p:nvPr/>
        </p:nvSpPr>
        <p:spPr>
          <a:xfrm>
            <a:off x="624211" y="27342924"/>
            <a:ext cx="13808310" cy="63651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solidFill>
                  <a:srgbClr val="0F4372"/>
                </a:solidFill>
              </a:rPr>
              <a:t>References </a:t>
            </a:r>
            <a:endParaRPr lang="en-US" sz="4400" b="1" dirty="0">
              <a:solidFill>
                <a:srgbClr val="0F4372"/>
              </a:solidFill>
              <a:cs typeface="Arial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A058621-72B6-AFE4-53B6-3697073F5673}"/>
              </a:ext>
            </a:extLst>
          </p:cNvPr>
          <p:cNvSpPr txBox="1"/>
          <p:nvPr/>
        </p:nvSpPr>
        <p:spPr>
          <a:xfrm>
            <a:off x="694957" y="27821538"/>
            <a:ext cx="138083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2000" b="0" i="0" dirty="0">
                <a:solidFill>
                  <a:srgbClr val="495365"/>
                </a:solidFill>
                <a:effectLst/>
              </a:rPr>
              <a:t>[1] M. Milford and G. Wyeth, “Persistent navigation and mapping using a biologically inspired slam system,” The International Journal of Robotics</a:t>
            </a:r>
            <a:r>
              <a:rPr lang="en-AU" sz="2000" dirty="0">
                <a:solidFill>
                  <a:srgbClr val="495365"/>
                </a:solidFill>
              </a:rPr>
              <a:t> </a:t>
            </a:r>
            <a:r>
              <a:rPr lang="en-AU" sz="2000" b="0" i="0" dirty="0">
                <a:solidFill>
                  <a:srgbClr val="495365"/>
                </a:solidFill>
                <a:effectLst/>
              </a:rPr>
              <a:t>Research, vol. 29, no. 9, pp. 1131–1153, 2010.</a:t>
            </a:r>
            <a:br>
              <a:rPr lang="en-AU" sz="2000" b="0" i="0" dirty="0">
                <a:solidFill>
                  <a:srgbClr val="495365"/>
                </a:solidFill>
                <a:effectLst/>
              </a:rPr>
            </a:br>
            <a:r>
              <a:rPr lang="en-AU" sz="2000" b="0" i="0" dirty="0">
                <a:solidFill>
                  <a:srgbClr val="495365"/>
                </a:solidFill>
                <a:effectLst/>
              </a:rPr>
              <a:t>[2] F. Yu, J. Shang, Y. Hu, and M. Milford, “</a:t>
            </a:r>
            <a:r>
              <a:rPr lang="en-AU" sz="2000" b="0" i="0" dirty="0" err="1">
                <a:solidFill>
                  <a:srgbClr val="495365"/>
                </a:solidFill>
                <a:effectLst/>
              </a:rPr>
              <a:t>NeuroSLAM</a:t>
            </a:r>
            <a:r>
              <a:rPr lang="en-AU" sz="2000" b="0" i="0" dirty="0">
                <a:solidFill>
                  <a:srgbClr val="495365"/>
                </a:solidFill>
                <a:effectLst/>
              </a:rPr>
              <a:t>: A brain-inspired slam system for 3d environments,” Biological cybernetics, vol. 113,</a:t>
            </a:r>
            <a:r>
              <a:rPr lang="en-AU" sz="2000" dirty="0">
                <a:solidFill>
                  <a:srgbClr val="495365"/>
                </a:solidFill>
              </a:rPr>
              <a:t> </a:t>
            </a:r>
            <a:r>
              <a:rPr lang="en-AU" sz="2000" b="0" i="0" dirty="0">
                <a:solidFill>
                  <a:srgbClr val="495365"/>
                </a:solidFill>
                <a:effectLst/>
              </a:rPr>
              <a:t>pp. 515–545, 2019.</a:t>
            </a:r>
          </a:p>
          <a:p>
            <a:pPr algn="l"/>
            <a:r>
              <a:rPr lang="en-AU" sz="2000" b="0" i="0" dirty="0">
                <a:solidFill>
                  <a:srgbClr val="495365"/>
                </a:solidFill>
                <a:effectLst/>
              </a:rPr>
              <a:t>[3] Y. </a:t>
            </a:r>
            <a:r>
              <a:rPr lang="en-AU" sz="2000" b="0" i="0" dirty="0" err="1">
                <a:solidFill>
                  <a:srgbClr val="495365"/>
                </a:solidFill>
                <a:effectLst/>
              </a:rPr>
              <a:t>Burak</a:t>
            </a:r>
            <a:r>
              <a:rPr lang="en-AU" sz="2000" b="0" i="0" dirty="0">
                <a:solidFill>
                  <a:srgbClr val="495365"/>
                </a:solidFill>
                <a:effectLst/>
              </a:rPr>
              <a:t> and I. R. </a:t>
            </a:r>
            <a:r>
              <a:rPr lang="en-AU" sz="2000" b="0" i="0" dirty="0" err="1">
                <a:solidFill>
                  <a:srgbClr val="495365"/>
                </a:solidFill>
                <a:effectLst/>
              </a:rPr>
              <a:t>Fiete</a:t>
            </a:r>
            <a:r>
              <a:rPr lang="en-AU" sz="2000" b="0" i="0" dirty="0">
                <a:solidFill>
                  <a:srgbClr val="495365"/>
                </a:solidFill>
                <a:effectLst/>
              </a:rPr>
              <a:t>, “Accurate path integration in continuous attractor network models of grid cells,” </a:t>
            </a:r>
            <a:r>
              <a:rPr lang="en-AU" sz="2000" b="0" i="0" dirty="0" err="1">
                <a:solidFill>
                  <a:srgbClr val="495365"/>
                </a:solidFill>
                <a:effectLst/>
              </a:rPr>
              <a:t>PLoS</a:t>
            </a:r>
            <a:r>
              <a:rPr lang="en-AU" sz="2000" b="0" i="0" dirty="0">
                <a:solidFill>
                  <a:srgbClr val="495365"/>
                </a:solidFill>
                <a:effectLst/>
              </a:rPr>
              <a:t> computational biology, vol. 5,no. 2, e1000291, 2009.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8293B0E-75CD-C7BD-4DB7-47FA998E4C76}"/>
              </a:ext>
            </a:extLst>
          </p:cNvPr>
          <p:cNvSpPr/>
          <p:nvPr/>
        </p:nvSpPr>
        <p:spPr>
          <a:xfrm>
            <a:off x="14452467" y="3973526"/>
            <a:ext cx="13808310" cy="25959311"/>
          </a:xfrm>
          <a:prstGeom prst="rect">
            <a:avLst/>
          </a:prstGeom>
          <a:noFill/>
          <a:ln>
            <a:solidFill>
              <a:srgbClr val="28998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7C2B70E-82D5-ADEB-6027-AC75F04ABC7C}"/>
              </a:ext>
            </a:extLst>
          </p:cNvPr>
          <p:cNvSpPr/>
          <p:nvPr/>
        </p:nvSpPr>
        <p:spPr>
          <a:xfrm>
            <a:off x="28585435" y="3961981"/>
            <a:ext cx="13808310" cy="25959311"/>
          </a:xfrm>
          <a:prstGeom prst="rect">
            <a:avLst/>
          </a:prstGeom>
          <a:noFill/>
          <a:ln>
            <a:solidFill>
              <a:srgbClr val="28998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7969020-E330-092C-7686-63750D039BEC}"/>
              </a:ext>
            </a:extLst>
          </p:cNvPr>
          <p:cNvSpPr/>
          <p:nvPr/>
        </p:nvSpPr>
        <p:spPr>
          <a:xfrm>
            <a:off x="346997" y="3973526"/>
            <a:ext cx="13808310" cy="25959311"/>
          </a:xfrm>
          <a:prstGeom prst="rect">
            <a:avLst/>
          </a:prstGeom>
          <a:noFill/>
          <a:ln>
            <a:solidFill>
              <a:srgbClr val="28998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86899E8-2C70-2515-376A-D3B9234E189E}"/>
              </a:ext>
            </a:extLst>
          </p:cNvPr>
          <p:cNvSpPr txBox="1"/>
          <p:nvPr/>
        </p:nvSpPr>
        <p:spPr>
          <a:xfrm>
            <a:off x="29110365" y="28224619"/>
            <a:ext cx="13808310" cy="63651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42679" tIns="71340" rIns="142679" bIns="713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solidFill>
                  <a:srgbClr val="0F4372"/>
                </a:solidFill>
              </a:rPr>
              <a:t>Acknowledgements  </a:t>
            </a:r>
            <a:endParaRPr lang="en-US" sz="4400" b="1" dirty="0">
              <a:solidFill>
                <a:srgbClr val="0F4372"/>
              </a:solidFill>
              <a:cs typeface="Arial"/>
            </a:endParaRPr>
          </a:p>
        </p:txBody>
      </p:sp>
      <p:pic>
        <p:nvPicPr>
          <p:cNvPr id="1036" name="Picture 12" descr="Free Photo of Sea Turtle Stock Photo">
            <a:extLst>
              <a:ext uri="{FF2B5EF4-FFF2-40B4-BE49-F238E27FC236}">
                <a16:creationId xmlns:a16="http://schemas.microsoft.com/office/drawing/2014/main" id="{68CD68C6-DDD0-BDB3-0A52-A5D2EA241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381" y="7964060"/>
            <a:ext cx="3977406" cy="265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Free Woman with Cows on Beach Stock Photo">
            <a:extLst>
              <a:ext uri="{FF2B5EF4-FFF2-40B4-BE49-F238E27FC236}">
                <a16:creationId xmlns:a16="http://schemas.microsoft.com/office/drawing/2014/main" id="{ED45AB5D-905B-3770-591A-EB2ECDB42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212" y="7895394"/>
            <a:ext cx="4109511" cy="273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5C2DA9A-04BB-D635-DE0A-E817F995A50F}"/>
              </a:ext>
            </a:extLst>
          </p:cNvPr>
          <p:cNvGrpSpPr/>
          <p:nvPr/>
        </p:nvGrpSpPr>
        <p:grpSpPr>
          <a:xfrm>
            <a:off x="15042928" y="19746184"/>
            <a:ext cx="13417609" cy="9367435"/>
            <a:chOff x="263772" y="22615"/>
            <a:chExt cx="10500862" cy="6625319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9CCFBB5-D6CE-47AA-19A7-E0C80DF7F6C6}"/>
                </a:ext>
              </a:extLst>
            </p:cNvPr>
            <p:cNvSpPr txBox="1"/>
            <p:nvPr/>
          </p:nvSpPr>
          <p:spPr>
            <a:xfrm>
              <a:off x="298680" y="257805"/>
              <a:ext cx="2925848" cy="979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AU" sz="2800" dirty="0"/>
                <a:t>Initialise</a:t>
              </a:r>
              <a:r>
                <a:rPr lang="en-US" sz="2800" dirty="0"/>
                <a:t> the network as a 2D gaussian with an activation width of A x A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CE2108EF-7ABF-3934-43D5-393CD3A2B267}"/>
                </a:ext>
              </a:extLst>
            </p:cNvPr>
            <p:cNvSpPr txBox="1"/>
            <p:nvPr/>
          </p:nvSpPr>
          <p:spPr>
            <a:xfrm>
              <a:off x="322762" y="2004198"/>
              <a:ext cx="2977328" cy="979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AU" sz="2800" dirty="0"/>
                <a:t>Shift the active neurons based on input velocity and store it as a copy </a:t>
              </a: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54539171-0A1A-0B4A-A3D1-273354735F39}"/>
                </a:ext>
              </a:extLst>
            </p:cNvPr>
            <p:cNvSpPr txBox="1"/>
            <p:nvPr/>
          </p:nvSpPr>
          <p:spPr>
            <a:xfrm>
              <a:off x="322760" y="3429000"/>
              <a:ext cx="3493638" cy="979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AU" sz="2800" dirty="0"/>
                <a:t>Excite neurons weighted by the strength of its neighbours within an E x E region </a:t>
              </a: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5CFD8B8A-E6A7-0D4B-F807-8ABA6CF1F0F9}"/>
                </a:ext>
              </a:extLst>
            </p:cNvPr>
            <p:cNvSpPr txBox="1"/>
            <p:nvPr/>
          </p:nvSpPr>
          <p:spPr>
            <a:xfrm>
              <a:off x="336750" y="4775281"/>
              <a:ext cx="3459979" cy="979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AU" sz="2800" dirty="0"/>
                <a:t>Inhibit neurons by the sum of network activity weighted by an inhibition factor </a:t>
              </a: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09E585DB-F9FE-F319-6C04-53389CDC125D}"/>
                </a:ext>
              </a:extLst>
            </p:cNvPr>
            <p:cNvSpPr txBox="1"/>
            <p:nvPr/>
          </p:nvSpPr>
          <p:spPr>
            <a:xfrm>
              <a:off x="336749" y="6016223"/>
              <a:ext cx="2389707" cy="370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AU" sz="2800" dirty="0"/>
                <a:t>Network Update: </a:t>
              </a:r>
            </a:p>
          </p:txBody>
        </p:sp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4EFEAE33-7E3B-130F-71B0-8EE8AC4A6930}"/>
                </a:ext>
              </a:extLst>
            </p:cNvPr>
            <p:cNvGrpSpPr/>
            <p:nvPr/>
          </p:nvGrpSpPr>
          <p:grpSpPr>
            <a:xfrm>
              <a:off x="263772" y="22615"/>
              <a:ext cx="10500862" cy="6625319"/>
              <a:chOff x="263772" y="22615"/>
              <a:chExt cx="10500862" cy="6625319"/>
            </a:xfrm>
          </p:grpSpPr>
          <p:pic>
            <p:nvPicPr>
              <p:cNvPr id="1042" name="Picture 1041">
                <a:extLst>
                  <a:ext uri="{FF2B5EF4-FFF2-40B4-BE49-F238E27FC236}">
                    <a16:creationId xmlns:a16="http://schemas.microsoft.com/office/drawing/2014/main" id="{8E2D72B0-8A83-0F92-00B9-87AB34D37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/>
              <a:srcRect t="13085" b="-1"/>
              <a:stretch/>
            </p:blipFill>
            <p:spPr>
              <a:xfrm>
                <a:off x="8889851" y="345404"/>
                <a:ext cx="1196054" cy="1263354"/>
              </a:xfrm>
              <a:prstGeom prst="rect">
                <a:avLst/>
              </a:prstGeom>
            </p:spPr>
          </p:pic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6E79450A-53E2-B1D6-34BC-DCB6C7C090F8}"/>
                  </a:ext>
                </a:extLst>
              </p:cNvPr>
              <p:cNvSpPr/>
              <p:nvPr/>
            </p:nvSpPr>
            <p:spPr>
              <a:xfrm>
                <a:off x="8883728" y="2004198"/>
                <a:ext cx="1196054" cy="1262940"/>
              </a:xfrm>
              <a:prstGeom prst="rect">
                <a:avLst/>
              </a:prstGeom>
              <a:solidFill>
                <a:srgbClr val="571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cxnSp>
            <p:nvCxnSpPr>
              <p:cNvPr id="1044" name="Straight Arrow Connector 1043">
                <a:extLst>
                  <a:ext uri="{FF2B5EF4-FFF2-40B4-BE49-F238E27FC236}">
                    <a16:creationId xmlns:a16="http://schemas.microsoft.com/office/drawing/2014/main" id="{CC08F6FA-EB0A-42F8-1A1A-973DEC20B8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2671" y="3218000"/>
                <a:ext cx="386883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5" name="Rounded Rectangle 1044">
                <a:extLst>
                  <a:ext uri="{FF2B5EF4-FFF2-40B4-BE49-F238E27FC236}">
                    <a16:creationId xmlns:a16="http://schemas.microsoft.com/office/drawing/2014/main" id="{D097DB51-0E6F-7BF1-76E3-E00A9B2FE4A4}"/>
                  </a:ext>
                </a:extLst>
              </p:cNvPr>
              <p:cNvSpPr/>
              <p:nvPr/>
            </p:nvSpPr>
            <p:spPr>
              <a:xfrm>
                <a:off x="268782" y="206347"/>
                <a:ext cx="8400748" cy="158750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46" name="Rounded Rectangle 1045">
                <a:extLst>
                  <a:ext uri="{FF2B5EF4-FFF2-40B4-BE49-F238E27FC236}">
                    <a16:creationId xmlns:a16="http://schemas.microsoft.com/office/drawing/2014/main" id="{8917B76E-2175-7675-3105-9DB35D4B8341}"/>
                  </a:ext>
                </a:extLst>
              </p:cNvPr>
              <p:cNvSpPr/>
              <p:nvPr/>
            </p:nvSpPr>
            <p:spPr>
              <a:xfrm>
                <a:off x="267872" y="1927545"/>
                <a:ext cx="8401657" cy="134175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47" name="TextBox 1046">
                <a:extLst>
                  <a:ext uri="{FF2B5EF4-FFF2-40B4-BE49-F238E27FC236}">
                    <a16:creationId xmlns:a16="http://schemas.microsoft.com/office/drawing/2014/main" id="{04F32450-DA17-AEB6-0BBE-797D468458A4}"/>
                  </a:ext>
                </a:extLst>
              </p:cNvPr>
              <p:cNvSpPr txBox="1"/>
              <p:nvPr/>
            </p:nvSpPr>
            <p:spPr>
              <a:xfrm>
                <a:off x="8785071" y="22615"/>
                <a:ext cx="1681488" cy="370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Initialisation </a:t>
                </a:r>
              </a:p>
            </p:txBody>
          </p:sp>
          <p:sp>
            <p:nvSpPr>
              <p:cNvPr id="1048" name="TextBox 1047">
                <a:extLst>
                  <a:ext uri="{FF2B5EF4-FFF2-40B4-BE49-F238E27FC236}">
                    <a16:creationId xmlns:a16="http://schemas.microsoft.com/office/drawing/2014/main" id="{4F67E938-F0BF-8C3E-01BB-02CEAA8DB5A8}"/>
                  </a:ext>
                </a:extLst>
              </p:cNvPr>
              <p:cNvSpPr txBox="1"/>
              <p:nvPr/>
            </p:nvSpPr>
            <p:spPr>
              <a:xfrm>
                <a:off x="8785071" y="1682372"/>
                <a:ext cx="1979563" cy="370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Shifted Copy </a:t>
                </a:r>
              </a:p>
            </p:txBody>
          </p: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4E1F6DA2-22C1-9C8E-31FA-244136DB4852}"/>
                  </a:ext>
                </a:extLst>
              </p:cNvPr>
              <p:cNvGrpSpPr/>
              <p:nvPr/>
            </p:nvGrpSpPr>
            <p:grpSpPr>
              <a:xfrm>
                <a:off x="8880035" y="5304575"/>
                <a:ext cx="1218227" cy="1288431"/>
                <a:chOff x="8278035" y="3547778"/>
                <a:chExt cx="1297973" cy="1487035"/>
              </a:xfrm>
            </p:grpSpPr>
            <p:sp>
              <p:nvSpPr>
                <p:cNvPr id="1065" name="Rectangle 1064">
                  <a:extLst>
                    <a:ext uri="{FF2B5EF4-FFF2-40B4-BE49-F238E27FC236}">
                      <a16:creationId xmlns:a16="http://schemas.microsoft.com/office/drawing/2014/main" id="{9585D495-2A6E-A64A-44C5-ABC3AC6065EB}"/>
                    </a:ext>
                  </a:extLst>
                </p:cNvPr>
                <p:cNvSpPr/>
                <p:nvPr/>
              </p:nvSpPr>
              <p:spPr>
                <a:xfrm>
                  <a:off x="8278035" y="3547778"/>
                  <a:ext cx="1297973" cy="1487035"/>
                </a:xfrm>
                <a:prstGeom prst="rect">
                  <a:avLst/>
                </a:prstGeom>
                <a:solidFill>
                  <a:srgbClr val="5712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pic>
              <p:nvPicPr>
                <p:cNvPr id="1066" name="Picture 1065">
                  <a:extLst>
                    <a:ext uri="{FF2B5EF4-FFF2-40B4-BE49-F238E27FC236}">
                      <a16:creationId xmlns:a16="http://schemas.microsoft.com/office/drawing/2014/main" id="{18C4CFD1-47CD-7830-D2DE-7304300F52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 rot="2932001">
                  <a:off x="8420977" y="4302869"/>
                  <a:ext cx="517144" cy="614519"/>
                </a:xfrm>
                <a:prstGeom prst="rect">
                  <a:avLst/>
                </a:prstGeom>
              </p:spPr>
            </p:pic>
          </p:grpSp>
          <p:sp>
            <p:nvSpPr>
              <p:cNvPr id="1050" name="Rounded Rectangle 1049">
                <a:extLst>
                  <a:ext uri="{FF2B5EF4-FFF2-40B4-BE49-F238E27FC236}">
                    <a16:creationId xmlns:a16="http://schemas.microsoft.com/office/drawing/2014/main" id="{7D9D87C2-4FC7-D03B-1FDE-936502E5A603}"/>
                  </a:ext>
                </a:extLst>
              </p:cNvPr>
              <p:cNvSpPr/>
              <p:nvPr/>
            </p:nvSpPr>
            <p:spPr>
              <a:xfrm>
                <a:off x="263772" y="3432849"/>
                <a:ext cx="8407765" cy="120874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51" name="Rounded Rectangle 1050">
                <a:extLst>
                  <a:ext uri="{FF2B5EF4-FFF2-40B4-BE49-F238E27FC236}">
                    <a16:creationId xmlns:a16="http://schemas.microsoft.com/office/drawing/2014/main" id="{DAC2DBA3-7002-70E5-9AFF-F4C3747B9BF8}"/>
                  </a:ext>
                </a:extLst>
              </p:cNvPr>
              <p:cNvSpPr/>
              <p:nvPr/>
            </p:nvSpPr>
            <p:spPr>
              <a:xfrm>
                <a:off x="279888" y="4789943"/>
                <a:ext cx="8407764" cy="923331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52" name="Rounded Rectangle 1051">
                <a:extLst>
                  <a:ext uri="{FF2B5EF4-FFF2-40B4-BE49-F238E27FC236}">
                    <a16:creationId xmlns:a16="http://schemas.microsoft.com/office/drawing/2014/main" id="{3A5A6B40-04A5-72D3-33EF-E90A65CA3E4E}"/>
                  </a:ext>
                </a:extLst>
              </p:cNvPr>
              <p:cNvSpPr/>
              <p:nvPr/>
            </p:nvSpPr>
            <p:spPr>
              <a:xfrm>
                <a:off x="267874" y="5871352"/>
                <a:ext cx="8401655" cy="77658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1053" name="Group 1052">
                <a:extLst>
                  <a:ext uri="{FF2B5EF4-FFF2-40B4-BE49-F238E27FC236}">
                    <a16:creationId xmlns:a16="http://schemas.microsoft.com/office/drawing/2014/main" id="{2CFDC9B7-8A8C-E6D9-3F97-3999F4BAC999}"/>
                  </a:ext>
                </a:extLst>
              </p:cNvPr>
              <p:cNvGrpSpPr/>
              <p:nvPr/>
            </p:nvGrpSpPr>
            <p:grpSpPr>
              <a:xfrm>
                <a:off x="8836661" y="3638943"/>
                <a:ext cx="1276241" cy="1262940"/>
                <a:chOff x="8704254" y="4513674"/>
                <a:chExt cx="1464951" cy="1363600"/>
              </a:xfrm>
            </p:grpSpPr>
            <p:pic>
              <p:nvPicPr>
                <p:cNvPr id="1060" name="Picture 1059">
                  <a:extLst>
                    <a:ext uri="{FF2B5EF4-FFF2-40B4-BE49-F238E27FC236}">
                      <a16:creationId xmlns:a16="http://schemas.microsoft.com/office/drawing/2014/main" id="{CF14611C-31F7-0521-D081-A64A86A004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87470" y="4513674"/>
                  <a:ext cx="836261" cy="1363600"/>
                </a:xfrm>
                <a:prstGeom prst="rect">
                  <a:avLst/>
                </a:prstGeom>
              </p:spPr>
            </p:pic>
            <p:pic>
              <p:nvPicPr>
                <p:cNvPr id="1061" name="Picture 1060">
                  <a:extLst>
                    <a:ext uri="{FF2B5EF4-FFF2-40B4-BE49-F238E27FC236}">
                      <a16:creationId xmlns:a16="http://schemas.microsoft.com/office/drawing/2014/main" id="{56EFB6F2-E6FE-AE6E-C2BE-0709638714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8"/>
                <a:srcRect t="8638" r="2684" b="-1"/>
                <a:stretch/>
              </p:blipFill>
              <p:spPr>
                <a:xfrm rot="5400000">
                  <a:off x="9260235" y="5113078"/>
                  <a:ext cx="1326988" cy="164790"/>
                </a:xfrm>
                <a:prstGeom prst="rect">
                  <a:avLst/>
                </a:prstGeom>
              </p:spPr>
            </p:pic>
            <p:pic>
              <p:nvPicPr>
                <p:cNvPr id="1062" name="Picture 1061">
                  <a:extLst>
                    <a:ext uri="{FF2B5EF4-FFF2-40B4-BE49-F238E27FC236}">
                      <a16:creationId xmlns:a16="http://schemas.microsoft.com/office/drawing/2014/main" id="{918B350E-61E2-125B-4D0E-CB5D7E3ECF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8"/>
                <a:srcRect t="8638" r="2684" b="-1"/>
                <a:stretch/>
              </p:blipFill>
              <p:spPr>
                <a:xfrm rot="5400000">
                  <a:off x="8305825" y="5131384"/>
                  <a:ext cx="1326989" cy="164790"/>
                </a:xfrm>
                <a:prstGeom prst="rect">
                  <a:avLst/>
                </a:prstGeom>
              </p:spPr>
            </p:pic>
            <p:pic>
              <p:nvPicPr>
                <p:cNvPr id="1063" name="Picture 1062">
                  <a:extLst>
                    <a:ext uri="{FF2B5EF4-FFF2-40B4-BE49-F238E27FC236}">
                      <a16:creationId xmlns:a16="http://schemas.microsoft.com/office/drawing/2014/main" id="{27035DE5-C6F7-76EF-6DF2-3571325ADD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8"/>
                <a:srcRect t="8638" r="2684" b="-1"/>
                <a:stretch/>
              </p:blipFill>
              <p:spPr>
                <a:xfrm rot="5400000">
                  <a:off x="9423315" y="5122228"/>
                  <a:ext cx="1326990" cy="164790"/>
                </a:xfrm>
                <a:prstGeom prst="rect">
                  <a:avLst/>
                </a:prstGeom>
              </p:spPr>
            </p:pic>
            <p:pic>
              <p:nvPicPr>
                <p:cNvPr id="1064" name="Picture 1063">
                  <a:extLst>
                    <a:ext uri="{FF2B5EF4-FFF2-40B4-BE49-F238E27FC236}">
                      <a16:creationId xmlns:a16="http://schemas.microsoft.com/office/drawing/2014/main" id="{009F1BCA-75F5-7927-2F3B-A99DA64041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8"/>
                <a:srcRect t="8638" r="2684" b="-1"/>
                <a:stretch/>
              </p:blipFill>
              <p:spPr>
                <a:xfrm rot="5400000">
                  <a:off x="8123155" y="5131384"/>
                  <a:ext cx="1326988" cy="164790"/>
                </a:xfrm>
                <a:prstGeom prst="rect">
                  <a:avLst/>
                </a:prstGeom>
              </p:spPr>
            </p:pic>
          </p:grpSp>
          <p:pic>
            <p:nvPicPr>
              <p:cNvPr id="1054" name="Picture 1053">
                <a:extLst>
                  <a:ext uri="{FF2B5EF4-FFF2-40B4-BE49-F238E27FC236}">
                    <a16:creationId xmlns:a16="http://schemas.microsoft.com/office/drawing/2014/main" id="{32DBE499-B540-77D0-E6B7-4E76EA9AF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182538" y="2705092"/>
                <a:ext cx="334032" cy="369333"/>
              </a:xfrm>
              <a:prstGeom prst="rect">
                <a:avLst/>
              </a:prstGeom>
            </p:spPr>
          </p:pic>
          <p:sp>
            <p:nvSpPr>
              <p:cNvPr id="1055" name="TextBox 1054">
                <a:extLst>
                  <a:ext uri="{FF2B5EF4-FFF2-40B4-BE49-F238E27FC236}">
                    <a16:creationId xmlns:a16="http://schemas.microsoft.com/office/drawing/2014/main" id="{B95A5AD7-6871-4DD4-98C8-B7EF5952A221}"/>
                  </a:ext>
                </a:extLst>
              </p:cNvPr>
              <p:cNvSpPr txBox="1"/>
              <p:nvPr/>
            </p:nvSpPr>
            <p:spPr>
              <a:xfrm>
                <a:off x="8785071" y="3326247"/>
                <a:ext cx="1366644" cy="370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dirty="0"/>
                  <a:t>Excitations</a:t>
                </a:r>
              </a:p>
            </p:txBody>
          </p:sp>
          <p:sp>
            <p:nvSpPr>
              <p:cNvPr id="1056" name="TextBox 1055">
                <a:extLst>
                  <a:ext uri="{FF2B5EF4-FFF2-40B4-BE49-F238E27FC236}">
                    <a16:creationId xmlns:a16="http://schemas.microsoft.com/office/drawing/2014/main" id="{5134951D-C230-31A2-2DB4-AE3D67147F10}"/>
                  </a:ext>
                </a:extLst>
              </p:cNvPr>
              <p:cNvSpPr txBox="1"/>
              <p:nvPr/>
            </p:nvSpPr>
            <p:spPr>
              <a:xfrm>
                <a:off x="8800311" y="4940448"/>
                <a:ext cx="1586641" cy="370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dirty="0"/>
                  <a:t>Final Update</a:t>
                </a:r>
              </a:p>
            </p:txBody>
          </p:sp>
          <p:pic>
            <p:nvPicPr>
              <p:cNvPr id="1057" name="Picture 1056">
                <a:extLst>
                  <a:ext uri="{FF2B5EF4-FFF2-40B4-BE49-F238E27FC236}">
                    <a16:creationId xmlns:a16="http://schemas.microsoft.com/office/drawing/2014/main" id="{FA1C5722-9FF4-0CCE-84AC-5547EFDE9D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93909" y="1226148"/>
                <a:ext cx="334032" cy="369333"/>
              </a:xfrm>
              <a:prstGeom prst="rect">
                <a:avLst/>
              </a:prstGeom>
            </p:spPr>
          </p:pic>
          <p:cxnSp>
            <p:nvCxnSpPr>
              <p:cNvPr id="1058" name="Straight Arrow Connector 1057">
                <a:extLst>
                  <a:ext uri="{FF2B5EF4-FFF2-40B4-BE49-F238E27FC236}">
                    <a16:creationId xmlns:a16="http://schemas.microsoft.com/office/drawing/2014/main" id="{E404ED48-9486-BEB0-46A7-22E8366558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62671" y="2909711"/>
                <a:ext cx="347893" cy="30829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9" name="Straight Arrow Connector 1058">
                <a:extLst>
                  <a:ext uri="{FF2B5EF4-FFF2-40B4-BE49-F238E27FC236}">
                    <a16:creationId xmlns:a16="http://schemas.microsoft.com/office/drawing/2014/main" id="{B6D04392-02E9-1B2E-4300-698205AA7C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49554" y="2922691"/>
                <a:ext cx="0" cy="268384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31" name="Picture 1030">
              <a:extLst>
                <a:ext uri="{FF2B5EF4-FFF2-40B4-BE49-F238E27FC236}">
                  <a16:creationId xmlns:a16="http://schemas.microsoft.com/office/drawing/2014/main" id="{F60B6EB6-5A4C-2027-7224-9B058E1995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27431" t="54246" r="28033" b="40240"/>
            <a:stretch/>
          </p:blipFill>
          <p:spPr>
            <a:xfrm>
              <a:off x="4051876" y="5969014"/>
              <a:ext cx="3758994" cy="602325"/>
            </a:xfrm>
            <a:prstGeom prst="rect">
              <a:avLst/>
            </a:prstGeom>
          </p:spPr>
        </p:pic>
        <p:pic>
          <p:nvPicPr>
            <p:cNvPr id="1033" name="Picture 1032">
              <a:extLst>
                <a:ext uri="{FF2B5EF4-FFF2-40B4-BE49-F238E27FC236}">
                  <a16:creationId xmlns:a16="http://schemas.microsoft.com/office/drawing/2014/main" id="{7003A174-7AFF-15BF-9433-1740C1E10D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33722" t="29743" r="27273" b="64131"/>
            <a:stretch/>
          </p:blipFill>
          <p:spPr>
            <a:xfrm>
              <a:off x="3974401" y="1969718"/>
              <a:ext cx="3292122" cy="669141"/>
            </a:xfrm>
            <a:prstGeom prst="rect">
              <a:avLst/>
            </a:prstGeom>
          </p:spPr>
        </p:pic>
        <p:pic>
          <p:nvPicPr>
            <p:cNvPr id="1035" name="Picture 1034">
              <a:extLst>
                <a:ext uri="{FF2B5EF4-FFF2-40B4-BE49-F238E27FC236}">
                  <a16:creationId xmlns:a16="http://schemas.microsoft.com/office/drawing/2014/main" id="{3534CE57-D487-94D6-3142-D79302F32C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31455" t="13706" r="31470" b="79447"/>
            <a:stretch/>
          </p:blipFill>
          <p:spPr>
            <a:xfrm>
              <a:off x="3988049" y="99709"/>
              <a:ext cx="3129214" cy="747863"/>
            </a:xfrm>
            <a:prstGeom prst="rect">
              <a:avLst/>
            </a:prstGeom>
          </p:spPr>
        </p:pic>
        <p:pic>
          <p:nvPicPr>
            <p:cNvPr id="1037" name="Picture 1036">
              <a:extLst>
                <a:ext uri="{FF2B5EF4-FFF2-40B4-BE49-F238E27FC236}">
                  <a16:creationId xmlns:a16="http://schemas.microsoft.com/office/drawing/2014/main" id="{ABA60A26-DAD9-D869-A7A0-1C6683C247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29970" t="20372" r="27972" b="70259"/>
            <a:stretch/>
          </p:blipFill>
          <p:spPr>
            <a:xfrm>
              <a:off x="4082491" y="823142"/>
              <a:ext cx="3549797" cy="1023390"/>
            </a:xfrm>
            <a:prstGeom prst="rect">
              <a:avLst/>
            </a:prstGeom>
          </p:spPr>
        </p:pic>
        <p:pic>
          <p:nvPicPr>
            <p:cNvPr id="1039" name="Picture 1038">
              <a:extLst>
                <a:ext uri="{FF2B5EF4-FFF2-40B4-BE49-F238E27FC236}">
                  <a16:creationId xmlns:a16="http://schemas.microsoft.com/office/drawing/2014/main" id="{5104F8E9-D5DD-F774-F71B-302FEC8BFD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29357" t="36936" r="29838" b="59099"/>
            <a:stretch/>
          </p:blipFill>
          <p:spPr>
            <a:xfrm>
              <a:off x="3998857" y="2758103"/>
              <a:ext cx="3444104" cy="432972"/>
            </a:xfrm>
            <a:prstGeom prst="rect">
              <a:avLst/>
            </a:prstGeom>
          </p:spPr>
        </p:pic>
        <p:pic>
          <p:nvPicPr>
            <p:cNvPr id="1040" name="Picture 1039">
              <a:extLst>
                <a:ext uri="{FF2B5EF4-FFF2-40B4-BE49-F238E27FC236}">
                  <a16:creationId xmlns:a16="http://schemas.microsoft.com/office/drawing/2014/main" id="{D67B2D54-94E3-3E7C-DA4E-3A80D9148B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26559" t="42162" r="28905" b="51712"/>
            <a:stretch/>
          </p:blipFill>
          <p:spPr>
            <a:xfrm>
              <a:off x="3997285" y="3687010"/>
              <a:ext cx="3758995" cy="669142"/>
            </a:xfrm>
            <a:prstGeom prst="rect">
              <a:avLst/>
            </a:prstGeom>
          </p:spPr>
        </p:pic>
        <p:pic>
          <p:nvPicPr>
            <p:cNvPr id="1041" name="Picture 1040">
              <a:extLst>
                <a:ext uri="{FF2B5EF4-FFF2-40B4-BE49-F238E27FC236}">
                  <a16:creationId xmlns:a16="http://schemas.microsoft.com/office/drawing/2014/main" id="{30B107B2-9EBC-9014-53D2-B2C81F2675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40867" t="48198" r="41771" b="45135"/>
            <a:stretch/>
          </p:blipFill>
          <p:spPr>
            <a:xfrm>
              <a:off x="4118109" y="4861735"/>
              <a:ext cx="1465356" cy="7281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71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24024</TotalTime>
  <Words>690</Words>
  <Application>Microsoft Macintosh PowerPoint</Application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Taylor Gambon</dc:creator>
  <cp:lastModifiedBy>Therese Joseph</cp:lastModifiedBy>
  <cp:revision>97</cp:revision>
  <cp:lastPrinted>2023-09-27T04:33:25Z</cp:lastPrinted>
  <dcterms:created xsi:type="dcterms:W3CDTF">2018-10-25T14:12:07Z</dcterms:created>
  <dcterms:modified xsi:type="dcterms:W3CDTF">2023-09-29T15:52:00Z</dcterms:modified>
</cp:coreProperties>
</file>